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175431b2544345" /><Relationship Type="http://schemas.openxmlformats.org/officeDocument/2006/relationships/extended-properties" Target="/docProps/app.xml" Id="R7868b0af95174a02" /><Relationship Type="http://schemas.openxmlformats.org/officeDocument/2006/relationships/officeDocument" Target="/ppt/presentation.xml" Id="Re39dd49d21904c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139d96e37648c9"/>
  </p:sldMasterIdLst>
  <p:notesMasterIdLst>
    <p:notesMasterId xmlns:r="http://schemas.openxmlformats.org/officeDocument/2006/relationships" r:id="R21d1060f4f8c4bbf"/>
  </p:notesMasterIdLst>
  <p:sldIdLst>
    <p:sldId xmlns:r="http://schemas.openxmlformats.org/officeDocument/2006/relationships" id="256" r:id="R8ccf1e8aa4b24088"/>
    <p:sldId xmlns:r="http://schemas.openxmlformats.org/officeDocument/2006/relationships" id="257" r:id="R5e5ab6d419cf4ed8"/>
    <p:sldId xmlns:r="http://schemas.openxmlformats.org/officeDocument/2006/relationships" id="258" r:id="Re0462d84de9b43b5"/>
    <p:sldId xmlns:r="http://schemas.openxmlformats.org/officeDocument/2006/relationships" id="259" r:id="Rba74c10abd2a4cd4"/>
    <p:sldId xmlns:r="http://schemas.openxmlformats.org/officeDocument/2006/relationships" id="260" r:id="R0b4d66067e734bcd"/>
    <p:sldId xmlns:r="http://schemas.openxmlformats.org/officeDocument/2006/relationships" id="261" r:id="Rc9ac427e4172474a"/>
    <p:sldId xmlns:r="http://schemas.openxmlformats.org/officeDocument/2006/relationships" id="262" r:id="Rd5e53d315e3040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c297590e044923" /><Relationship Type="http://schemas.openxmlformats.org/officeDocument/2006/relationships/slideMaster" Target="/ppt/slideMasters/slideMaster1.xml" Id="R61139d96e37648c9" /><Relationship Type="http://schemas.openxmlformats.org/officeDocument/2006/relationships/notesMaster" Target="/ppt/notesMasters/notesMaster1.xml" Id="R21d1060f4f8c4bbf" /><Relationship Type="http://schemas.openxmlformats.org/officeDocument/2006/relationships/presProps" Target="/ppt/presProps.xml" Id="Rd939889d9c544fbe" /><Relationship Type="http://schemas.openxmlformats.org/officeDocument/2006/relationships/tableStyles" Target="/ppt/tableStyles.xml" Id="R87f2cfd3b0f64ab9" /><Relationship Type="http://schemas.openxmlformats.org/officeDocument/2006/relationships/slide" Target="/ppt/slides/slide1.xml" Id="R8ccf1e8aa4b24088" /><Relationship Type="http://schemas.openxmlformats.org/officeDocument/2006/relationships/slide" Target="/ppt/slides/slide2.xml" Id="R5e5ab6d419cf4ed8" /><Relationship Type="http://schemas.openxmlformats.org/officeDocument/2006/relationships/slide" Target="/ppt/slides/slide3.xml" Id="Re0462d84de9b43b5" /><Relationship Type="http://schemas.openxmlformats.org/officeDocument/2006/relationships/slide" Target="/ppt/slides/slide4.xml" Id="Rba74c10abd2a4cd4" /><Relationship Type="http://schemas.openxmlformats.org/officeDocument/2006/relationships/slide" Target="/ppt/slides/slide5.xml" Id="R0b4d66067e734bcd" /><Relationship Type="http://schemas.openxmlformats.org/officeDocument/2006/relationships/slide" Target="/ppt/slides/slide6.xml" Id="Rc9ac427e4172474a" /><Relationship Type="http://schemas.openxmlformats.org/officeDocument/2006/relationships/slide" Target="/ppt/slides/slide7.xml" Id="Rd5e53d315e3040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02fb79f885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f11d049b274284" /><Relationship Type="http://schemas.openxmlformats.org/officeDocument/2006/relationships/notesMaster" Target="/ppt/notesMasters/notesMaster1.xml" Id="R2f70be5713244c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1f86e43afa4318" /><Relationship Type="http://schemas.openxmlformats.org/officeDocument/2006/relationships/notesMaster" Target="/ppt/notesMasters/notesMaster1.xml" Id="Rd3b11e26e8b149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a090ba993d4852" /><Relationship Type="http://schemas.openxmlformats.org/officeDocument/2006/relationships/notesMaster" Target="/ppt/notesMasters/notesMaster1.xml" Id="Rcc9ddbea960749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e636b8cf1e4ed4" /><Relationship Type="http://schemas.openxmlformats.org/officeDocument/2006/relationships/notesMaster" Target="/ppt/notesMasters/notesMaster1.xml" Id="Rf7c933d0095e4e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2d737f56704e0a" /><Relationship Type="http://schemas.openxmlformats.org/officeDocument/2006/relationships/notesMaster" Target="/ppt/notesMasters/notesMaster1.xml" Id="Rff3f79c5f76a49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ce83fb613348f2" /><Relationship Type="http://schemas.openxmlformats.org/officeDocument/2006/relationships/notesMaster" Target="/ppt/notesMasters/notesMaster1.xml" Id="Rfe6280202db249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8f8d83be38416a" /><Relationship Type="http://schemas.openxmlformats.org/officeDocument/2006/relationships/notesMaster" Target="/ppt/notesMasters/notesMaster1.xml" Id="Rf66bc227c61744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内容依据：用户提供的 ERP 生产流程、旧系统问题与新系统改进说明。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内容依据：用户提供的 ERP 生产工作流说明。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图片来源：用户提供的旧系统卡死截图与新系统智能校验截图。内容依据：用户提供的纸格导入演示说明。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图片来源：用户提供的 BOM 批量运算截图。数据来源：用户提供的 PQ-3672A1 实测对比：旧系统约 50 分钟，新系统 1 分 25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图片来源：用户提供的销售订单/BOM 用量差异截图。内容依据：用户提供的 LA-0381/N 损耗问题、PI-4180 明细同步错位问题及修复说明。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内容依据：用户提供的销售订单录入新旧功能对比及页面优化说明。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内容依据：用户目前提供的纸格导入、BOM 运算、销售订单录入演示内容。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c114bb35146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0b1b2d29374595" /><Relationship Type="http://schemas.openxmlformats.org/officeDocument/2006/relationships/slideLayout" Target="/ppt/slideLayouts/slideLayout1.xml" Id="R07a1619473614a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a1619473614a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f6c4385124ec9" /><Relationship Type="http://schemas.openxmlformats.org/officeDocument/2006/relationships/notesSlide" Target="/ppt/notesSlides/notesSlide1.xml" Id="Rf10ada0943fa46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ab662123f4e74" /><Relationship Type="http://schemas.openxmlformats.org/officeDocument/2006/relationships/notesSlide" Target="/ppt/notesSlides/notesSlide2.xml" Id="R91a23e6286e64a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5f2ccfea24b6d" /><Relationship Type="http://schemas.openxmlformats.org/officeDocument/2006/relationships/image" Target="/ppt/media/image.png" Id="Rb58a57bd891240a2" /><Relationship Type="http://schemas.openxmlformats.org/officeDocument/2006/relationships/image" Target="/ppt/media/image2.png" Id="R223df923cd844ee0" /><Relationship Type="http://schemas.openxmlformats.org/officeDocument/2006/relationships/notesSlide" Target="/ppt/notesSlides/notesSlide3.xml" Id="R53af1f99815445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f3a7f932242fe" /><Relationship Type="http://schemas.openxmlformats.org/officeDocument/2006/relationships/image" Target="/ppt/media/image3.png" Id="Rc6c9fab37384438a" /><Relationship Type="http://schemas.openxmlformats.org/officeDocument/2006/relationships/notesSlide" Target="/ppt/notesSlides/notesSlide4.xml" Id="Rdb570b8ce4d64f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3e673771a4aa6" /><Relationship Type="http://schemas.openxmlformats.org/officeDocument/2006/relationships/image" Target="/ppt/media/image4.png" Id="R7f59b107c0864ab3" /><Relationship Type="http://schemas.openxmlformats.org/officeDocument/2006/relationships/notesSlide" Target="/ppt/notesSlides/notesSlide5.xml" Id="Re1fcf6e96ed044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ee7ce30584b1a" /><Relationship Type="http://schemas.openxmlformats.org/officeDocument/2006/relationships/notesSlide" Target="/ppt/notesSlides/notesSlide6.xml" Id="Rd9bfe875126f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1273139764bb1" /><Relationship Type="http://schemas.openxmlformats.org/officeDocument/2006/relationships/notesSlide" Target="/ppt/notesSlides/notesSlide7.xml" Id="R5211f67ddab040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D0629-C7CD-4413-8510-09425380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51AD5-8D33-48C5-95A8-A68036FA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6DC36-0679-4917-82EC-A615900B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F3A"/>
                </a:solidFill>
              </a:defRPr>
            </a:pPr>
            <a:r>
              <a:rPr sz="3900" b="1">
                <a:solidFill>
                  <a:srgbClr val="0B1F3A"/>
                </a:solidFill>
              </a:rPr>
              <a:t>ERP 系统生产流程演示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E8C82-F409-4E98-B2B3-2080FF2E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E5EFF"/>
                </a:solidFill>
              </a:defRPr>
            </a:pPr>
            <a:r>
              <a:rPr sz="1875" b="1">
                <a:solidFill>
                  <a:srgbClr val="1E5EFF"/>
                </a:solidFill>
              </a:rPr>
              <a:t>旧系统问题修复与新功能提升｜阶段版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783AA-A711-4021-8C61-505F5C55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7085"/>
                </a:solidFill>
              </a:defRPr>
            </a:pPr>
            <a:r>
              <a:rPr sz="1575">
                <a:solidFill>
                  <a:srgbClr val="667085"/>
                </a:solidFill>
              </a:rPr>
              <a:t>以 PQ-3159B1 为例，展示从纸格导入到销售订单录入的工作流变化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DB050-B0CE-49B0-B9C8-06B7E584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171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79159-0CC3-4701-A796-A25C6158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FC8FF"/>
                </a:solidFill>
              </a:defRPr>
            </a:pPr>
            <a:r>
              <a:rPr sz="1275" b="1">
                <a:solidFill>
                  <a:srgbClr val="AFC8FF"/>
                </a:solidFill>
              </a:rPr>
              <a:t>本阶段核心结论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D24A5-11A3-40CE-A1C6-D2DD6A3B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流程更顺｜提示更清｜效率更高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095EB-4018-4A00-A0DF-5EC5B810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面向领导汇报</a:t>
            </a:r>
          </a:p>
        </p:txBody>
      </p:sp>
    </p:spTree>
    <p:extLst>
      <p:ext uri="{BB962C8B-B14F-4D97-AF65-F5344CB8AC3E}">
        <p14:creationId xmlns:p14="http://schemas.microsoft.com/office/powerpoint/2010/main" val="76955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74E19-FE0C-49B1-864F-ADB84370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一套生产流程，贯穿多个业务部门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845EC-3D46-4D49-B23E-EC021F53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从计价资料进入系统，到采购、外协、仓库形成完整闭环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DB804-C821-4AF6-8F4A-9B8B2D82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6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E0B34-BE43-401C-8CAE-F4BAF3A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685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DA886-308E-441F-ADC5-E4E904E8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685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367BC-4899-437F-8FB2-0F60F5C0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685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A50F6-56A0-4678-8A8D-47FA86EE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FBAB1-DDAC-4964-83BF-91395739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FC8FF"/>
                </a:solidFill>
              </a:defRPr>
            </a:pPr>
            <a:r>
              <a:rPr sz="1350" b="1">
                <a:solidFill>
                  <a:srgbClr val="AFC8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F1006-EAB9-4915-A189-BE002783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计价做资料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86924-A7E0-458C-8ED7-2D381C55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CE7FF"/>
                </a:solidFill>
              </a:defRPr>
            </a:pPr>
            <a:r>
              <a:rPr sz="1125">
                <a:solidFill>
                  <a:srgbClr val="DCE7FF"/>
                </a:solidFill>
              </a:rPr>
              <a:t>纸格导入 → BOM 运算审核 → 形成成品 PQ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457E1-DCE9-45C5-9637-239A01C3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C9A93-1516-41B0-9D14-C5500CC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EFF"/>
                </a:solidFill>
              </a:defRPr>
            </a:pPr>
            <a:r>
              <a:rPr sz="1350" b="1">
                <a:solidFill>
                  <a:srgbClr val="1E5E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D8C37-357A-4DAD-BF4B-ED6F9CA4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IT 部录 PI 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D1775-E9E9-4703-8008-E25DDCCF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根据邮件与 Excel 录入 PQ 款式、数量 → 生成物料单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19B0A-D1C3-483B-A15D-DA5E517B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7069D1-942E-424D-B397-3736B7DF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EFF"/>
                </a:solidFill>
              </a:defRPr>
            </a:pPr>
            <a:r>
              <a:rPr sz="1350" b="1">
                <a:solidFill>
                  <a:srgbClr val="1E5E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E4576-4CDB-481A-8A4C-98653C74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录派工单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BA1F7F-D71D-4254-B158-A5EBBF75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IT 部安排包装/开料；仓库安排车缝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F4BE9-9F91-4505-9684-BFA1E795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7E040-0112-4F3B-9DF4-6B102AD5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2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EFF"/>
                </a:solidFill>
              </a:defRPr>
            </a:pPr>
            <a:r>
              <a:rPr sz="1350" b="1">
                <a:solidFill>
                  <a:srgbClr val="1E5E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6C56B-D86F-4B8F-B41C-BF764431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采购、外协、仓库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34DFF-3E00-454B-8306-D23F1FBB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385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085"/>
                </a:solidFill>
              </a:defRPr>
            </a:pPr>
            <a:r>
              <a:rPr sz="1125">
                <a:solidFill>
                  <a:srgbClr val="667085"/>
                </a:solidFill>
              </a:rPr>
              <a:t>采购入库、派工出库、外协入库等后续处理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E165B9-C725-4FA3-934B-D9111D64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BDF94C-849C-40F7-AE19-B762F809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5EFF"/>
                </a:solidFill>
              </a:defRPr>
            </a:pPr>
            <a:r>
              <a:rPr sz="1350" b="1">
                <a:solidFill>
                  <a:srgbClr val="1E5EFF"/>
                </a:solidFill>
              </a:rPr>
              <a:t>关键连接点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648B62-E8A2-440D-9D6F-E87A05C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76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62033"/>
                </a:solidFill>
              </a:defRPr>
            </a:pPr>
            <a:r>
              <a:rPr sz="1425">
                <a:solidFill>
                  <a:srgbClr val="162033"/>
                </a:solidFill>
              </a:rPr>
              <a:t>物料单是采购、入库、出库、外协等大部分模块都会关联的重要单据。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1C3189-CAD4-4140-8514-C3E479A6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ERP 系统演示｜阶段版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B37B8A-A019-4BF2-8B92-C4F53E5A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4754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A1D73-AC34-45C2-B68A-52971AD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纸格导入：从“容易卡死”到“可控、可校验”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7AF60-D47B-4812-8630-BEF0780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演示款号 PQ-3159B1｜导入主袋、活动肩带、拉牌、人民牌四份纸格资料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66088-1F86-45D3-97F6-E3F2EF64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6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AF5E2-6C20-4377-82C9-0B87D1A6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714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78B2F-4E0C-4445-BA46-493987A7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62828"/>
                </a:solidFill>
              </a:defRPr>
            </a:pPr>
            <a:r>
              <a:rPr sz="1800" b="1">
                <a:solidFill>
                  <a:srgbClr val="C62828"/>
                </a:solidFill>
              </a:rPr>
              <a:t>旧系统问题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D7AFC-2979-42CA-89D0-63DDF36E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3411B-52B2-473B-A127-1A524B32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1462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连续导入会卡死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82C1B-AA6C-4D5B-AD49-12068DD0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多次连续导入时页面无法继续操作，影响现场录入节奏。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4879E-81EA-425B-9A48-EB5DAC5E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3F96E-D6F5-4C9D-80C2-706013BD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14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2828"/>
                </a:solidFill>
              </a:defRPr>
            </a:pPr>
            <a:r>
              <a:rPr sz="1350" b="1">
                <a:solidFill>
                  <a:srgbClr val="C62828"/>
                </a:solidFill>
              </a:rPr>
              <a:t>问题：稳定性不足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C26B0-1564-4A85-A9BC-47F1FD2E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3714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E9030-C78E-4E9C-8EB9-92041C4D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95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C8B62"/>
                </a:solidFill>
              </a:defRPr>
            </a:pPr>
            <a:r>
              <a:rPr sz="1800" b="1">
                <a:solidFill>
                  <a:srgbClr val="0C8B62"/>
                </a:solidFill>
              </a:rPr>
              <a:t>新系统改进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D9368-7403-40A3-A0B3-9CFF691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71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407AE-8151-4929-80D0-BCF59C91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14625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智能校验更清晰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0BAB7-7444-4481-9388-C673F0F4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明确提示编码不统一、编码不存在、编码为空等问题。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A293B-F475-476A-B5D6-62CF95C3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FC433-CBE2-474D-A1B7-E4BAC53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导入速度与页面优化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33D08-89D4-4B73-AE72-8C698266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1002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提高写入速度，让连续导入更顺畅。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934F4-A1B9-4CC3-9B1C-638C0981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1012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现场展示：四份纸格资料导入后进入 BOM 流程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a57bd891240a2"/>
          <a:stretch xmlns:a="http://schemas.openxmlformats.org/drawingml/2006/main"/>
        </p:blipFill>
        <p:spPr>
          <a:xfrm xmlns:a="http://schemas.openxmlformats.org/drawingml/2006/main">
            <a:off x="9285794" y="1790700"/>
            <a:ext cx="1669037" cy="17716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DFD99-4BF2-4607-85C6-F17DC11E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62828"/>
                </a:solidFill>
              </a:defRPr>
            </a:pPr>
            <a:r>
              <a:rPr sz="1200" b="1">
                <a:solidFill>
                  <a:srgbClr val="C62828"/>
                </a:solidFill>
              </a:rPr>
              <a:t>旧系统：导入过程中卡死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df923cd844ee0"/>
          <a:stretch xmlns:a="http://schemas.openxmlformats.org/drawingml/2006/main"/>
        </p:blipFill>
        <p:spPr>
          <a:xfrm xmlns:a="http://schemas.openxmlformats.org/drawingml/2006/main">
            <a:off x="8958527" y="4000500"/>
            <a:ext cx="2323570" cy="1524000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C0654D-A6D4-41BF-97DA-B7034246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72125"/>
            <a:ext cx="271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C8B62"/>
                </a:solidFill>
              </a:defRPr>
            </a:pPr>
            <a:r>
              <a:rPr sz="1200" b="1">
                <a:solidFill>
                  <a:srgbClr val="0C8B62"/>
                </a:solidFill>
              </a:rPr>
              <a:t>新系统：错误提示清晰可定位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330A4-6BD6-471D-B333-9121BC75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ERP 系统演示｜阶段版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B4B14-4513-4E86-841F-476612AA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30357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50C54-2D48-49AD-8CE6-768111F4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BOM 运算：批量处理把等待时间压缩到 1 分 25 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F0F31-8D0C-4FE5-BB29-E46CE028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纸格导入后的资料先进入“未审核”，再进行 BOM 运算与审核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C8921-1026-419F-8DB2-FAE2E274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6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B9C84-C7E1-4AE5-840B-985A4732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762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85715-60D7-4B72-8BF8-93E584FF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PQ-3672A1 实际对比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06E6C-A4A5-409B-A650-44233514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908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E5EFF"/>
                </a:solidFill>
              </a:defRPr>
            </a:pPr>
            <a:r>
              <a:rPr sz="2400" b="1">
                <a:solidFill>
                  <a:srgbClr val="1E5EFF"/>
                </a:solidFill>
              </a:rPr>
              <a:t>24 个 BOM 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48517-6FE7-413E-8C37-AD226D10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62828"/>
                </a:solidFill>
              </a:defRPr>
            </a:pPr>
            <a:r>
              <a:rPr sz="1350" b="1">
                <a:solidFill>
                  <a:srgbClr val="C62828"/>
                </a:solidFill>
              </a:rPr>
              <a:t>旧系统｜逐个运算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00893-3B01-4510-8B6F-4B038547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62828"/>
                </a:solidFill>
              </a:defRPr>
            </a:pPr>
            <a:r>
              <a:rPr sz="3000" b="1">
                <a:solidFill>
                  <a:srgbClr val="C62828"/>
                </a:solidFill>
              </a:rPr>
              <a:t>约 50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A1838-E51E-496F-85D9-B0EAE7A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C8B62"/>
                </a:solidFill>
              </a:defRPr>
            </a:pPr>
            <a:r>
              <a:rPr sz="1350" b="1">
                <a:solidFill>
                  <a:srgbClr val="0C8B62"/>
                </a:solidFill>
              </a:rPr>
              <a:t>新系统｜批量运算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1E4C4-0D9E-4B29-816C-A38C9A0E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62375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C8B62"/>
                </a:solidFill>
              </a:defRPr>
            </a:pPr>
            <a:r>
              <a:rPr sz="3000" b="1">
                <a:solidFill>
                  <a:srgbClr val="0C8B62"/>
                </a:solidFill>
              </a:rPr>
              <a:t>1 分 25 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83537-C271-4235-B87D-FD2883F3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EBACB-624F-4FBC-B816-CEA31C80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29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配件明细越大，效率改善越明显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9fab37384438a"/>
          <a:stretch xmlns:a="http://schemas.openxmlformats.org/drawingml/2006/main"/>
        </p:blipFill>
        <p:spPr>
          <a:xfrm xmlns:a="http://schemas.openxmlformats.org/drawingml/2006/main">
            <a:off x="5905500" y="1913593"/>
            <a:ext cx="5572125" cy="3173689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D846F-4AAE-4DD7-A6C6-3C6B8979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5572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35003-2C8B-4E22-BDBE-71E64AF7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673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C8B62"/>
                </a:solidFill>
              </a:defRPr>
            </a:pPr>
            <a:r>
              <a:rPr sz="1350" b="1">
                <a:solidFill>
                  <a:srgbClr val="0C8B62"/>
                </a:solidFill>
              </a:rPr>
              <a:t>新功能：批量运算（当前页）＋执行前确认提示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9A7FC-5EA7-4146-85D5-AC2A5686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ERP 系统演示｜阶段版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F24D1-787C-426D-8CE3-5B620F7F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5373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B7411-EA61-4001-B4C9-228EE2DA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销售订单录入：修复会影响后续部门的关键数据 BUG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4EBC1-EFF7-4732-AA78-EAB2D22A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从“只能进后台修数据”变成“系统内可正确同步、可批量录入”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B5039-26A0-4781-A1D8-B46F3353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6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FC9EE-5445-469A-89C0-65E75756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7B5E6-21E5-4211-8AEB-DE43E96B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62828"/>
                </a:solidFill>
              </a:defRPr>
            </a:pPr>
            <a:r>
              <a:rPr sz="1800" b="1">
                <a:solidFill>
                  <a:srgbClr val="C62828"/>
                </a:solidFill>
              </a:rPr>
              <a:t>旧系统的两个关键问题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0AE41-0C50-47B4-9944-380C827A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0B53A-E7F4-4A79-AB98-88DF2145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BUG 1｜LA-0381/N 损耗丢失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98FFC-F2C9-4294-8CEA-A0707471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76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BOM 用量与销售订单用量不一致，导致其他部门无法正常处理。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6A752-1E4D-4878-BB9A-97C2BD17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31B28-C179-4C4F-A9D4-9825D71B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F3A"/>
                </a:solidFill>
              </a:defRPr>
            </a:pPr>
            <a:r>
              <a:rPr sz="1575" b="1">
                <a:solidFill>
                  <a:srgbClr val="0B1F3A"/>
                </a:solidFill>
              </a:rPr>
              <a:t>BUG 2｜PI-4180 明细同步错位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CD512-206C-453D-9DC4-FF1ED4E3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</a:defRPr>
            </a:pPr>
            <a:r>
              <a:rPr sz="1200">
                <a:solidFill>
                  <a:srgbClr val="667085"/>
                </a:solidFill>
              </a:rPr>
              <a:t>选择同步 A 明细，系统却自动同步 B 明细，造成数据错误。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6FAC3-8697-4620-81C1-B0E5D414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62828"/>
                </a:solidFill>
              </a:defRPr>
            </a:pPr>
            <a:r>
              <a:rPr sz="1275" b="1">
                <a:solidFill>
                  <a:srgbClr val="C62828"/>
                </a:solidFill>
              </a:rPr>
              <a:t>旧系统只能通过后台数据库对比、手动修正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9b107c0864ab3"/>
          <a:stretch xmlns:a="http://schemas.openxmlformats.org/drawingml/2006/main"/>
        </p:blipFill>
        <p:spPr>
          <a:xfrm xmlns:a="http://schemas.openxmlformats.org/drawingml/2006/main">
            <a:off x="7194446" y="1809750"/>
            <a:ext cx="2994234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48533-18E1-4350-BEC8-EF26EC9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14950"/>
            <a:ext cx="5572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DC95F-46DF-435F-90CF-2D4F3873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673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C8B62"/>
                </a:solidFill>
              </a:defRPr>
            </a:pPr>
            <a:r>
              <a:rPr sz="1275" b="1">
                <a:solidFill>
                  <a:srgbClr val="0C8B62"/>
                </a:solidFill>
              </a:rPr>
              <a:t>新系统：以上同步 BUG 已修复，数据可正确进入后续流程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17870-FDF4-460F-9EAF-639256E7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ERP 系统演示｜阶段版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41F78-0CC1-48A6-82CE-CC66A121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0978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211D2-6523-4AFB-B424-128C56A1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F3A"/>
                </a:solidFill>
              </a:defRPr>
            </a:pPr>
            <a:r>
              <a:rPr sz="2625" b="1">
                <a:solidFill>
                  <a:srgbClr val="0B1F3A"/>
                </a:solidFill>
              </a:rPr>
              <a:t>销售订单录入：减少重复操作，让选择更聚焦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EDB47-4B01-4782-A718-279252E2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012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</a:defRPr>
            </a:pPr>
            <a:r>
              <a:rPr sz="1275">
                <a:solidFill>
                  <a:srgbClr val="667085"/>
                </a:solidFill>
              </a:rPr>
              <a:t>在修复数据正确性的基础上，继续优化实际录入效率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B7718-44CA-4335-A141-982ACE1D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62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7D291-C88B-41B8-82AF-B5F982DF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857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8C3D7-67BC-4E87-90D2-BCC84457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574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录入方式变化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C6891-BCCD-49E5-8D7A-DFDAFD9E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62828"/>
                </a:solidFill>
              </a:defRPr>
            </a:pPr>
            <a:r>
              <a:rPr sz="1575" b="1">
                <a:solidFill>
                  <a:srgbClr val="C62828"/>
                </a:solidFill>
              </a:rPr>
              <a:t>旧系统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0F4A1-1FD1-4F30-8921-538B5758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62828"/>
                </a:solidFill>
              </a:defRPr>
            </a:pPr>
            <a:r>
              <a:rPr sz="2250" b="1">
                <a:solidFill>
                  <a:srgbClr val="C62828"/>
                </a:solidFill>
              </a:rPr>
              <a:t>逐个添加物料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CFFCE-CA85-46E5-956F-1A051DEC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48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C8B62"/>
                </a:solidFill>
              </a:defRPr>
            </a:pPr>
            <a:r>
              <a:rPr sz="1575" b="1">
                <a:solidFill>
                  <a:srgbClr val="0C8B62"/>
                </a:solidFill>
              </a:rPr>
              <a:t>新系统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DAA74-5A73-4672-A6A5-46D18648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81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C8B62"/>
                </a:solidFill>
              </a:defRPr>
            </a:pPr>
            <a:r>
              <a:rPr sz="2250" b="1">
                <a:solidFill>
                  <a:srgbClr val="0C8B62"/>
                </a:solidFill>
              </a:rPr>
              <a:t>批量添加物料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9D9B0-DDFA-4344-83E5-BF9178E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10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93D1E-9B6E-416D-98BE-4D5F0E39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863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细节优化：默认显示成品，可筛选掉大部分不需要选择的物料，减少查找与误选。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3B669-BC9B-406D-9D98-D36F9140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000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15A5F-598E-49E2-B29E-412E08FA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FC8FF"/>
                </a:solidFill>
              </a:defRPr>
            </a:pPr>
            <a:r>
              <a:rPr sz="1650" b="1">
                <a:solidFill>
                  <a:srgbClr val="AFC8FF"/>
                </a:solidFill>
              </a:rPr>
              <a:t>录入体验的变化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6703C-4938-4159-8B79-BA58C3F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037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少点几次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少找一些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少出错一点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99775-A826-4BFB-80FF-94F1253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33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CE7FF"/>
                </a:solidFill>
              </a:defRPr>
            </a:pPr>
            <a:r>
              <a:rPr sz="1275">
                <a:solidFill>
                  <a:srgbClr val="DCE7FF"/>
                </a:solidFill>
              </a:rPr>
              <a:t>让 IT 部录单更快，也让后续部门拿到更可靠的数据。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F0F7A-C8A9-4A97-BF48-55B9CBEC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ERP 系统演示｜阶段版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300B8-3564-4CD5-B9B5-0B9D33CD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3728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03D28-BF1C-4D80-84E7-E2E9480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阶段性结果：流程更顺、问题更少、效率更高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58200-B1CD-4C57-9EEF-39D60552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FC8FF"/>
                </a:solidFill>
              </a:defRPr>
            </a:pPr>
            <a:r>
              <a:rPr sz="1500">
                <a:solidFill>
                  <a:srgbClr val="AFC8FF"/>
                </a:solidFill>
              </a:rPr>
              <a:t>目前已覆盖生产流程前段的关键演示节点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C5286-6E02-42A6-9050-2D6C5C46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87186-B041-4F37-A84B-5E7762DB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纸格导入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EA884-C5D8-40CA-812A-3419F053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EFF"/>
                </a:solidFill>
              </a:defRPr>
            </a:pPr>
            <a:r>
              <a:rPr sz="1650" b="1">
                <a:solidFill>
                  <a:srgbClr val="1E5EFF"/>
                </a:solidFill>
              </a:rPr>
              <a:t>解决连续导入卡死</a:t>
            </a:r>
          </a:p>
          <a:p xmlns:a="http://schemas.openxmlformats.org/drawingml/2006/main">
            <a:pPr>
              <a:defRPr sz="1650" b="1">
                <a:solidFill>
                  <a:srgbClr val="1E5EFF"/>
                </a:solidFill>
              </a:defRPr>
            </a:pPr>
            <a:r>
              <a:rPr sz="1650" b="1">
                <a:solidFill>
                  <a:srgbClr val="1E5EFF"/>
                </a:solidFill>
              </a:rPr>
              <a:t>智能校验更清晰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18F9A-7AD4-4519-B30E-A03C6B04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E2AE3-FCBD-4F3E-A8BA-837408A3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0ADDD-6566-4820-9E2F-6EB9E3C8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9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BOM 运算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B98A9-574A-459D-9C91-AC7BDC3A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8137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C8B62"/>
                </a:solidFill>
              </a:defRPr>
            </a:pPr>
            <a:r>
              <a:rPr sz="1650" b="1">
                <a:solidFill>
                  <a:srgbClr val="0C8B62"/>
                </a:solidFill>
              </a:rPr>
              <a:t>24 个资料</a:t>
            </a:r>
          </a:p>
          <a:p xmlns:a="http://schemas.openxmlformats.org/drawingml/2006/main">
            <a:pPr>
              <a:defRPr sz="1650" b="1">
                <a:solidFill>
                  <a:srgbClr val="0C8B62"/>
                </a:solidFill>
              </a:defRPr>
            </a:pPr>
            <a:r>
              <a:rPr sz="1650" b="1">
                <a:solidFill>
                  <a:srgbClr val="0C8B62"/>
                </a:solidFill>
              </a:rPr>
              <a:t>约 50 分钟 → 1 分 25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57E55-0CEC-4F35-A62C-1CBA26FD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3862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B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6AEDB-F4B2-4103-A2AF-DC51FC6B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231C3-4263-4F54-BF7B-7EC37C0A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9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销售订单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7C19D-8D29-43AF-96D5-7099F953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8137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5EFF"/>
                </a:solidFill>
              </a:defRPr>
            </a:pPr>
            <a:r>
              <a:rPr sz="1650" b="1">
                <a:solidFill>
                  <a:srgbClr val="1E5EFF"/>
                </a:solidFill>
              </a:rPr>
              <a:t>修复同步 BUG</a:t>
            </a:r>
          </a:p>
          <a:p xmlns:a="http://schemas.openxmlformats.org/drawingml/2006/main">
            <a:pPr>
              <a:defRPr sz="1650" b="1">
                <a:solidFill>
                  <a:srgbClr val="1E5EFF"/>
                </a:solidFill>
              </a:defRPr>
            </a:pPr>
            <a:r>
              <a:rPr sz="1650" b="1">
                <a:solidFill>
                  <a:srgbClr val="1E5EFF"/>
                </a:solidFill>
              </a:rPr>
              <a:t>支持批量添加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9985E-1B49-4361-9981-8A1C5301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38625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FF6CD-8968-49AB-862A-5C756ECB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1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4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12270-1DCB-430E-BF6D-37202810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CE7FF"/>
                </a:solidFill>
              </a:defRPr>
            </a:pPr>
            <a:r>
              <a:rPr sz="1500">
                <a:solidFill>
                  <a:srgbClr val="DCE7FF"/>
                </a:solidFill>
              </a:rPr>
              <a:t>后续可继续沿着 PI 单、派工单、采购、外协、入库、出库流程补充演示内容。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8A057-5128-4B75-B270-8C4BD6D9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FC8FF"/>
                </a:solidFill>
              </a:defRPr>
            </a:pPr>
            <a:r>
              <a:rPr sz="1200">
                <a:solidFill>
                  <a:srgbClr val="AFC8FF"/>
                </a:solidFill>
              </a:rPr>
              <a:t>阶段版｜待继续完善</a:t>
            </a:r>
          </a:p>
        </p:txBody>
      </p:sp>
    </p:spTree>
    <p:extLst>
      <p:ext uri="{BB962C8B-B14F-4D97-AF65-F5344CB8AC3E}">
        <p14:creationId xmlns:p14="http://schemas.microsoft.com/office/powerpoint/2010/main" val="1649112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2026-07-30T10:40:49.4210000Z</dcterms:created>
  <dcterms:modified xsi:type="dcterms:W3CDTF">2026-07-30T10:40:49.4210000Z</dcterms:modified>
</coreProperties>
</file>